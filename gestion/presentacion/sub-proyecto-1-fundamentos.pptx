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E600"/>
                </a:solidFill>
                <a:latin typeface="Calibri"/>
              </a:rPr>
              <a:t>Sub-proyecto 1: 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Evaluación de LLMs para Soporte al Cliente Automatizado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F5F5"/>
                </a:solidFill>
                <a:latin typeface="Calibri"/>
              </a:rPr>
              <a:t>Trabajo Final — Juan Bautista Xifro — UAI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E600"/>
                </a:solidFill>
                <a:latin typeface="Calibri"/>
              </a:rPr>
              <a:t>Baseline sin RAG: 3 modelos, 20 consultas, corrida real, 0 errores.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E600"/>
                </a:solidFill>
                <a:latin typeface="Calibri"/>
              </a:rPr>
              <a:t>Objetivo de esta etapa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1A"/>
                </a:solidFill>
              </a:defRPr>
            </a:pPr>
            <a:r>
              <a:t>•  Entorno reproducible (Ollama local + Python 3.11)</a:t>
            </a:r>
          </a:p>
          <a:p>
            <a:pPr>
              <a:spcAft>
                <a:spcPts val="1000"/>
              </a:spcAft>
              <a:defRPr sz="1800">
                <a:solidFill>
                  <a:srgbClr val="1A1A1A"/>
                </a:solidFill>
              </a:defRPr>
            </a:pPr>
            <a:r>
              <a:t>•  Modelo de costo defendible para los modelos open-source</a:t>
            </a:r>
          </a:p>
          <a:p>
            <a:pPr>
              <a:spcAft>
                <a:spcPts val="1000"/>
              </a:spcAft>
              <a:defRPr sz="1800">
                <a:solidFill>
                  <a:srgbClr val="1A1A1A"/>
                </a:solidFill>
              </a:defRPr>
            </a:pPr>
            <a:r>
              <a:t>•  Corpus en español (no en inglés, para alinear con el alcance del TF)</a:t>
            </a:r>
          </a:p>
          <a:p>
            <a:pPr>
              <a:spcAft>
                <a:spcPts val="1000"/>
              </a:spcAft>
              <a:defRPr sz="1800">
                <a:solidFill>
                  <a:srgbClr val="1A1A1A"/>
                </a:solidFill>
              </a:defRPr>
            </a:pPr>
            <a:r>
              <a:t>•  Corrida real contra los 3 modelos, sin errores</a:t>
            </a:r>
          </a:p>
          <a:p>
            <a:pPr>
              <a:spcAft>
                <a:spcPts val="1000"/>
              </a:spcAft>
              <a:defRPr sz="1800">
                <a:solidFill>
                  <a:srgbClr val="1A1A1A"/>
                </a:solidFill>
              </a:defRPr>
            </a:pPr>
            <a:r>
              <a:t>•  Primeros resultados volcados a la tesis (Cap. 3.4, 4, 5, 6-parcial)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Calibri"/>
              </a:rPr>
              <a:t>No busca resultados definitivos — busca validar que la cadena funciona antes de escalar.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E600"/>
                </a:solidFill>
                <a:latin typeface="Calibri"/>
              </a:rPr>
              <a:t>Pipeline del notebook — 7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A1A1A"/>
                </a:solidFill>
              </a:defRPr>
            </a:pPr>
            <a:r>
              <a:t>•  1. Setup — carga .env, verifica que Ollama está corriendo</a:t>
            </a:r>
          </a:p>
          <a:p>
            <a:pPr>
              <a:spcAft>
                <a:spcPts val="1000"/>
              </a:spcAft>
              <a:defRPr sz="1500">
                <a:solidFill>
                  <a:srgbClr val="1A1A1A"/>
                </a:solidFill>
              </a:defRPr>
            </a:pPr>
            <a:r>
              <a:t>•  2. Dataset — Bitext (HuggingFace), muestra estratificada de 20 (semilla=42), traducida al español</a:t>
            </a:r>
          </a:p>
          <a:p>
            <a:pPr>
              <a:spcAft>
                <a:spcPts val="1000"/>
              </a:spcAft>
              <a:defRPr sz="1500">
                <a:solidFill>
                  <a:srgbClr val="1A1A1A"/>
                </a:solidFill>
              </a:defRPr>
            </a:pPr>
            <a:r>
              <a:t>•  3. Generación — 20 consultas a los 3 modelos, mismo prompt, temperatura=0, semilla=42</a:t>
            </a:r>
          </a:p>
          <a:p>
            <a:pPr>
              <a:spcAft>
                <a:spcPts val="1000"/>
              </a:spcAft>
              <a:defRPr sz="1500">
                <a:solidFill>
                  <a:srgbClr val="1A1A1A"/>
                </a:solidFill>
              </a:defRPr>
            </a:pPr>
            <a:r>
              <a:t>•  4. Calidad — BERTScore F1 (español) + ROUGE-L, respuesta vs. referencia</a:t>
            </a:r>
          </a:p>
          <a:p>
            <a:pPr>
              <a:spcAft>
                <a:spcPts val="1000"/>
              </a:spcAft>
              <a:defRPr sz="1500">
                <a:solidFill>
                  <a:srgbClr val="1A1A1A"/>
                </a:solidFill>
              </a:defRPr>
            </a:pPr>
            <a:r>
              <a:t>•  5. Costo — dual: electricidad estimada (piso) + instancia cloud amortizada (oficial)</a:t>
            </a:r>
          </a:p>
          <a:p>
            <a:pPr>
              <a:spcAft>
                <a:spcPts val="1000"/>
              </a:spcAft>
              <a:defRPr sz="1500">
                <a:solidFill>
                  <a:srgbClr val="1A1A1A"/>
                </a:solidFill>
              </a:defRPr>
            </a:pPr>
            <a:r>
              <a:t>•  6. Índice compuesto — normaliza calidad/costo/latencia a [0,1], promedio con igual peso</a:t>
            </a:r>
          </a:p>
          <a:p>
            <a:pPr>
              <a:spcAft>
                <a:spcPts val="1000"/>
              </a:spcAft>
              <a:defRPr sz="1500">
                <a:solidFill>
                  <a:srgbClr val="1A1A1A"/>
                </a:solidFill>
              </a:defRPr>
            </a:pPr>
            <a:r>
              <a:t>•  7. Guardado — CSV con una fila por consulta (no solo promedios)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E600"/>
                </a:solidFill>
                <a:latin typeface="Calibri"/>
              </a:rPr>
              <a:t>Modelos evaluados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926080"/>
                <a:gridCol w="2377440"/>
                <a:gridCol w="338328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Modelo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Proveedor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Tipo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Cómo corre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gpt-4o-mini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OpenAI (API)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Propietario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Nube, paga por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llama-3.1-8b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Ollama (llama3.1:8b)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Código abierto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Local, en tu Mac (M3)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mistral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Ollama (mistral)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Código abierto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Local, en tu Mac (M3)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657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Los dos modelos open-source ya no usan Groq — corren 100% localmente, para que costo y latencia se midan sobre la misma infraestructura real.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E600"/>
                </a:solidFill>
                <a:latin typeface="Calibri"/>
              </a:rPr>
              <a:t>El costo de los modelos "gratuitos" — no es cero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5029200"/>
                <a:gridCol w="2743200"/>
              </a:tblGrid>
              <a:tr h="5181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Métrica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Qué mide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Rol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costo_electricidad_usd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Consumo eléctrico estimado (TDP × latencia real)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Piso — 100% medible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costo_instancia_usd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Amortización de instancia cloud / consultas·hora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Oficial — usada en H2/H3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2918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55940"/>
                </a:solidFill>
                <a:latin typeface="Calibri"/>
              </a:rPr>
              <a:t>⚠️ Los parámetros (CONSUMO_W, PRECIO_KWH_USD, PRECIO_INSTANCIA_HORA) son placeholders todavía sin cotización real citada — documentado explícitamente en el código, en HALLAZGOS.md y en la tesis.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E600"/>
                </a:solidFill>
                <a:latin typeface="Calibri"/>
              </a:rPr>
              <a:t>Resultados reales — costo promedio por consulta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926080"/>
                <a:gridCol w="3108960"/>
                <a:gridCol w="2286000"/>
              </a:tblGrid>
              <a:tr h="3886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Modelo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Costo electricidad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Costo instancia (oficial)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Latencia media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gpt-4o-mini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— (no aplica)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USD 0.000071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1.30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llama-3.1-8b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USD 0.000005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USD 0.001328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6.38 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mistral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USD 0.000008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USD 0.001926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9.25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3832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9942"/>
                </a:solidFill>
                <a:latin typeface="Calibri"/>
              </a:rPr>
              <a:t>Costo total de la corrida completa (60 consultas): gpt-4o-mini USD 0.0014 · llama USD 0.0266 · mistral USD 0.0385 — la corrida entera costó menos de 7 centavos de dólar en total.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E600"/>
                </a:solidFill>
                <a:latin typeface="Calibri"/>
              </a:rPr>
              <a:t>Resultados reales — tabla completa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194560"/>
                <a:gridCol w="2011680"/>
                <a:gridCol w="2286000"/>
                <a:gridCol w="2011680"/>
              </a:tblGrid>
              <a:tr h="4343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Modelo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BERTScore F1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Latencia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Costo oficial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Índice compuesto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gpt-4o-mini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0.7120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1.30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USD 0.000071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0.797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llama-3.1-8b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0.7154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6.38 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USD 0.001328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0.562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mistral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0.7103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9.25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USD 0.001926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0.425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60 consultas totales (3 modelos × 20), 0 errores.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E600"/>
                </a:solidFill>
                <a:latin typeface="Calibri"/>
              </a:rPr>
              <a:t>Hallazgo 1 — La calidad no discrimina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BERTScore F1 queda prácticamente empatado: 0.7103 – 0.7154 (diferencia de ~0.005 entre el mejor y el peor).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A4A4A"/>
                </a:solidFill>
                <a:latin typeface="Calibri"/>
              </a:rPr>
              <a:t>En este baseline sin RAG, ningún modelo responde mejor que otro de forma relevante — el índice compuesto termina decidido casi enteramente por costo y latencia, no por calidad.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E600"/>
                </a:solidFill>
                <a:latin typeface="Calibri"/>
              </a:rPr>
              <a:t>Hallazgo 2 (riesgo a vigilar) — El costo favorece a GPT-4o mini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55940"/>
                </a:solidFill>
                <a:latin typeface="Calibri"/>
              </a:rPr>
              <a:t>Bajo el modelo de costo oficial, los open-source salen 18.6x (llama) y 27x (mistral) más caros por consulta que GPT-4o mini — lo opuesto a lo que predice H2.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A1A1A"/>
                </a:solidFill>
              </a:defRPr>
            </a:pPr>
            <a:r>
              <a:t>•  Por qué: la fórmula divide el precio de instancia entre consultas/hora; la latencia real de Ollama local (6-9s) es mucho mayor que la de la API de OpenAI (1.3s)</a:t>
            </a:r>
          </a:p>
          <a:p>
            <a:pPr>
              <a:spcAft>
                <a:spcPts val="1000"/>
              </a:spcAft>
              <a:defRPr sz="1500">
                <a:solidFill>
                  <a:srgbClr val="1A1A1A"/>
                </a:solidFill>
              </a:defRPr>
            </a:pPr>
            <a:r>
              <a:t>•  No invalida nada todavía — las hipótesis se contrastan solo con la condición CON RAG</a:t>
            </a:r>
          </a:p>
          <a:p>
            <a:pPr>
              <a:spcAft>
                <a:spcPts val="1000"/>
              </a:spcAft>
              <a:defRPr sz="1500">
                <a:solidFill>
                  <a:srgbClr val="1A1A1A"/>
                </a:solidFill>
              </a:defRPr>
            </a:pPr>
            <a:r>
              <a:t>•  A vigilar en el Sub-proyecto 2: si el patrón se repite con RAG, es un resultado válido a discutir, no algo para forzar ajustando la metodología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E600"/>
                </a:solidFill>
                <a:latin typeface="Calibri"/>
              </a:rPr>
              <a:t>Qué fue complejo en esta primera iteración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A1A1A"/>
                </a:solidFill>
              </a:defRPr>
            </a:pPr>
            <a:r>
              <a:t>•  Diseñar un modelo de costo defendible para algo que "no cuesta nada" (open-source) — terminamos con 2 métricas paralelas, no 1</a:t>
            </a:r>
          </a:p>
          <a:p>
            <a:pPr>
              <a:spcAft>
                <a:spcPts val="1000"/>
              </a:spcAft>
              <a:defRPr sz="1500">
                <a:solidFill>
                  <a:srgbClr val="1A1A1A"/>
                </a:solidFill>
              </a:defRPr>
            </a:pPr>
            <a:r>
              <a:t>•  Bug real de índices en el muestreo estratificado (filas duplicadas silenciosas) — encontrado y corregido con test de regresión</a:t>
            </a:r>
          </a:p>
          <a:p>
            <a:pPr>
              <a:spcAft>
                <a:spcPts val="1000"/>
              </a:spcAft>
              <a:defRPr sz="1500">
                <a:solidFill>
                  <a:srgbClr val="1A1A1A"/>
                </a:solidFill>
              </a:defRPr>
            </a:pPr>
            <a:r>
              <a:t>•  Bug real de doble redondeo en el texto de la tesis — el costo de GPT-4o mini se mostraba ~40% más alto de lo real</a:t>
            </a:r>
          </a:p>
          <a:p>
            <a:pPr>
              <a:spcAft>
                <a:spcPts val="1000"/>
              </a:spcAft>
              <a:defRPr sz="1500">
                <a:solidFill>
                  <a:srgbClr val="1A1A1A"/>
                </a:solidFill>
              </a:defRPr>
            </a:pPr>
            <a:r>
              <a:t>•  Bug real de NaN vs. None al mezclar costos de distintos modelos en un DataFrame</a:t>
            </a:r>
          </a:p>
          <a:p>
            <a:pPr>
              <a:spcAft>
                <a:spcPts val="1000"/>
              </a:spcAft>
              <a:defRPr sz="1500">
                <a:solidFill>
                  <a:srgbClr val="1A1A1A"/>
                </a:solidFill>
              </a:defRPr>
            </a:pPr>
            <a:r>
              <a:t>•  Fricción operativa: cuenta OpenAI sin crédito, confusión ChatGPT Plus vs. API (productos separados), un incidente de seguridad (clave pegada en el chat, resuelto revocándola al instante)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E600"/>
                </a:solidFill>
                <a:latin typeface="Calibri"/>
              </a:rPr>
              <a:t>Qué costó (tiempo y dinero) en esta iteración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/>
                <a:gridCol w="4206240"/>
              </a:tblGrid>
              <a:tr h="43891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Recurso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Costo real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Llamadas a OpenAI (traducción + generación + tests)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&lt; USD 0.10 en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Modelos Ollama descargados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~10 GB de disco, gratis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Crédito cargado en 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USD 5 (alcanza para 500 consultas)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Tiempo de desarrollo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8 tareas + revisión final + 1 ronda de fix, 2 bugs reales corregidos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14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4A4A"/>
                </a:solidFill>
                <a:latin typeface="Calibri"/>
              </a:rPr>
              <a:t>El costo económico de correr el experimento es prácticamente nulo — el costo real de esta etapa fue tiempo de diseño e ingeniería, no cómputo.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E600"/>
                </a:solidFill>
                <a:latin typeface="Calibri"/>
              </a:rPr>
              <a:t>Qué falta — Roadmap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017520"/>
                <a:gridCol w="731520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Sub-proyecto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Qué agrega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FAISS + LangChain, vía el parámetro contexto que generar() ya acepta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Escalar la muestra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De 20 a 300-500 consultas (Spark si el volumen lo justifica)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Pruebas estadísticas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Shapiro-Wilk → paramétrica o no paramétrica, contraste H1/H2/H3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Dashboard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Streamlit sobre los CSV de resultados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Cierre de la tesis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1A"/>
                          </a:solidFill>
                        </a:defRPr>
                      </a:pPr>
                      <a:r>
                        <a:t>Conclusiones, Líneas Futuras, Anexos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389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Completitud estimada del TF hoy: ~35-40%.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E600"/>
                </a:solidFill>
                <a:latin typeface="Calibri"/>
              </a:rPr>
              <a:t>Próximo paso: Sub-proyecto 2 —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Construir la base de conocimiento vectorial y correr las configuraciones con contexto recuperado, para poder finalmente contrastar H1, H2 y H3 (las hipótesis solo se prueban con RAG; esto fue únicamente la línea base de control).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20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Mismo proceso: brainstorming → spec → plan → ejecución con revisión.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